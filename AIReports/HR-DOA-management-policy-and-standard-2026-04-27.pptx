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9669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HR Delegation of Authority</a:t>
            </a:r>
            <a:br/>
            <a:r>
              <a:t>Management Policy &amp;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5E0ED"/>
                </a:solidFill>
                <a:latin typeface="Aptos"/>
              </a:defRPr>
            </a:pPr>
            <a:r>
              <a:t>A risk-tiered, lifecycle-based governance framework for HR approvals, controls, evidence and auditability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DDC"/>
                </a:solidFill>
                <a:latin typeface="Aptos"/>
              </a:defRPr>
            </a:pPr>
            <a:r>
              <a:t>Based on source document · Report date: 27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目录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从制度定义到审批矩阵、控制标准和落地治理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252728"/>
            <a:ext cx="9692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252728"/>
            <a:ext cx="73152" cy="65836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1389887"/>
            <a:ext cx="9372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Why HR DOA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783079"/>
            <a:ext cx="937260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从审批表升级为治理与内控机制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121408"/>
            <a:ext cx="9692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2121408"/>
            <a:ext cx="73152" cy="65836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2258568"/>
            <a:ext cx="9372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Policy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2651760"/>
            <a:ext cx="937260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全球原则、本地合规、权责边界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063239"/>
            <a:ext cx="502920" cy="502920"/>
          </a:xfrm>
          <a:prstGeom prst="ellipse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2990087"/>
            <a:ext cx="9692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63040" y="2990087"/>
            <a:ext cx="73152" cy="65836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127247"/>
            <a:ext cx="9372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Risk-tiered approval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520439"/>
            <a:ext cx="937260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L1-L5 风险分层与强制升级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3858768"/>
            <a:ext cx="9692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0" y="3858768"/>
            <a:ext cx="73152" cy="65836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3995928"/>
            <a:ext cx="9372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Control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389120"/>
            <a:ext cx="937260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证据、例外、冲突、隐私和系统权限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4727448"/>
            <a:ext cx="9692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63040" y="4727448"/>
            <a:ext cx="73152" cy="65836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7632" y="4864608"/>
            <a:ext cx="9372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Implementation templates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5257800"/>
            <a:ext cx="937260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矩阵字段、例外申请、监控指标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执行摘要：HR DOA 不是审批表，而是治理系统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核心价值：把人事决策变成可解释、可追溯、可审计、符合法律的管理机制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63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56231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围绕员工生命周期建立的风险分层 HR 决策权系统，覆盖审批、复核、否决、执行、证据与监督。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463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856231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全球统一原则 + 本地法律优先 + 一致风险语言 + 本地化阈值。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73152" cy="1417320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463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控制逻辑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856231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系统权限不等于管理授权；审批可下放，但最终治理责任必须可追踪。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5C4A97"/>
          </a:solidFill>
          <a:ln>
            <a:solidFill>
              <a:srgbClr val="5C4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918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适用范围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685032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招聘、薪酬、晋升、调动、纪律、离职、重组、用工外包、HR 数据与系统权限。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154680"/>
            <a:ext cx="73152" cy="14173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32918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关键风险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3685032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劳动争议、歧视、薪酬公平、隐私、舞弊、声誉、预算泄漏和组织稳定性。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154680"/>
            <a:ext cx="73152" cy="1417320"/>
          </a:xfrm>
          <a:prstGeom prst="rect">
            <a:avLst/>
          </a:prstGeom>
          <a:solidFill>
            <a:srgbClr val="DC7E2D"/>
          </a:solidFill>
          <a:ln>
            <a:solidFill>
              <a:srgbClr val="DC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32918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输出成果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3685032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管理政策、审批与控制标准、矩阵/例外/记录/违规/监控模板。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七项政策原则 / Policy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制度设计应先明确“边界、责任、证据和本地合规”，再配置流程和系统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07008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07008"/>
            <a:ext cx="73152" cy="7498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3441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1. Local law overrides internal delegation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737360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309359" y="1207008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07008"/>
            <a:ext cx="73152" cy="749808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13441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2. Authority must match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1737360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777240" y="228600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286000"/>
            <a:ext cx="73152" cy="749808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423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3. Segregation of duties across request/review/approval/execution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2816352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309359" y="228600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286000"/>
            <a:ext cx="73152" cy="749808"/>
          </a:xfrm>
          <a:prstGeom prst="rect">
            <a:avLst/>
          </a:prstGeom>
          <a:solidFill>
            <a:srgbClr val="5C4A97"/>
          </a:solidFill>
          <a:ln>
            <a:solidFill>
              <a:srgbClr val="5C4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423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4. Risk tiering comes before monetary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2816352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777240" y="3364991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364991"/>
            <a:ext cx="73152" cy="749808"/>
          </a:xfrm>
          <a:prstGeom prst="rect">
            <a:avLst/>
          </a:prstGeom>
          <a:solidFill>
            <a:srgbClr val="DC7E2D"/>
          </a:solidFill>
          <a:ln>
            <a:solidFill>
              <a:srgbClr val="DC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5021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5. System access is not approval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895344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6309359" y="3364991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364991"/>
            <a:ext cx="73152" cy="749808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1" y="35021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6. Recordkeeping is a control, not administration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3895344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777240" y="4443984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443984"/>
            <a:ext cx="73152" cy="74980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581144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7. Global consistency with local calibration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4974336"/>
            <a:ext cx="4754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治理角色与三道防线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业务与 HR 一线执行控制，专业职能二线复核/否决，审计三线独立验证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Line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Core roles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Main responsibility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1st 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Business leaders / HRBP / HR 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Workforce need, factual basis, daily approval execution and evidence capture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2nd line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Global/Regional HR, COE, Finance, Legal, Compliance, Privacy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Policy interpretation, budget/pay/legal/data review, escalation and veto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3rd 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Internal Audit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Independent testing of DOA design and operating effectiveness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6576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Business consent does not equal HR compliance approval</a:t>
            </a:r>
          </a:p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Budget approval does not prove the people decision is lawful or fair</a:t>
            </a:r>
          </a:p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Legal advice does not replace business accountability</a:t>
            </a:r>
          </a:p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HRIS execution happens only after valid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三层 HR DOA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从原则到矩阵再到系统控制，形成可运行的闭环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234440"/>
            <a:ext cx="10149840" cy="10058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Layer 1 · Global principles &amp; authority definitions</a:t>
            </a:r>
            <a:br/>
            <a:r>
              <a:t>统一审批、复核、建议、否决、知会、执行等权利定义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51760"/>
            <a:ext cx="10149840" cy="100584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Layer 2 · Risk-tiered lifecycle approval matrices</a:t>
            </a:r>
            <a:br/>
            <a:r>
              <a:t>按员工生命周期和 L1-L5 风险等级配置审批路径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69080"/>
            <a:ext cx="10149840" cy="1005840"/>
          </a:xfrm>
          <a:prstGeom prst="round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Layer 3 · System, evidence, exception &amp; audit controls</a:t>
            </a:r>
            <a:br/>
            <a:r>
              <a:t>HRIS 权限、证据留存、例外管理、监控指标、审计复核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HR DOA 覆盖范围：员工生命周期 + 数据与供应商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低金额事项也可能是高法律、高隐私或高声誉风险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Workforce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647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Headcount, position, org redesign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2344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234440"/>
            <a:ext cx="73152" cy="132588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371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Recruitment &amp; hiring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7647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Offer, contract, screening, candidate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73152" cy="1325880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371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Compensation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17647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Salary, bonus, incentives, severance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2344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59" y="1234440"/>
            <a:ext cx="73152" cy="1325880"/>
          </a:xfrm>
          <a:prstGeom prst="rect">
            <a:avLst/>
          </a:prstGeom>
          <a:solidFill>
            <a:srgbClr val="5C4A97"/>
          </a:solidFill>
          <a:ln>
            <a:solidFill>
              <a:srgbClr val="5C4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1" y="1371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Promotion &amp;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1" y="17647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Role changes, key positions, access 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0632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063240"/>
            <a:ext cx="73152" cy="1325880"/>
          </a:xfrm>
          <a:prstGeom prst="rect">
            <a:avLst/>
          </a:prstGeom>
          <a:solidFill>
            <a:srgbClr val="DC7E2D"/>
          </a:solidFill>
          <a:ln>
            <a:solidFill>
              <a:srgbClr val="DC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200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Employee relations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5935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Performance, investigation, discipline, grievance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0632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063240"/>
            <a:ext cx="73152" cy="132588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2" y="3200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Separation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35935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Dismissal, redundancy, settlement, rehire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0632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063240"/>
            <a:ext cx="73152" cy="13258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3200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HR data &amp; 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35935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Master data, payroll, access, export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59" y="30632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59" y="3063240"/>
            <a:ext cx="73152" cy="1325880"/>
          </a:xfrm>
          <a:prstGeom prst="rect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1" y="3200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HR vendors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1" y="359359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Payroll, EOR, background check, HRIS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风险分层：L1-L5 Approval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审批层级由风险触发，而不是单纯由金额触发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292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746760"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Definition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Examples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Minimum control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L1 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Routine, low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Training / non-sensitive profile update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Manager or HR Ops review + system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L2 Medium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Pay / role / contract impact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Standard hiring, normal pay increase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Business + HRBP + Finance/COE where relevant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L3 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Outside budget/range or legal procedure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Exceptional hiring, discipline, key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Country HR + Legal/Compliance/Finance + regional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L4 Material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Org, executive, collective or reputation risk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Redundancy, major restructuring, executive dismissal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Regional/Global HR + Legal + Finance + CHRO/CEO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L5 Reserved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Prohibited, conflicted or board-reserved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Related-party hiring, procedure avoidance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Prohibit or submit to board/committee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审批矩阵权利类型：统一语言，避免“谁说了算”混淆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每个事项都要区分请求、建议、复核、批准、否决、知会和执行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435608"/>
            <a:ext cx="566928" cy="56692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9903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Request</a:t>
            </a:r>
            <a:br/>
            <a:r>
              <a:t>Initiates matter and provides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1435608"/>
            <a:ext cx="566928" cy="566928"/>
          </a:xfrm>
          <a:prstGeom prst="ellipse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REC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39903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Recommend</a:t>
            </a:r>
            <a:br/>
            <a:r>
              <a:t>Business/professional recommendation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1435608"/>
            <a:ext cx="566928" cy="566928"/>
          </a:xfrm>
          <a:prstGeom prst="ellipse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REV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9903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Review</a:t>
            </a:r>
            <a:br/>
            <a:r>
              <a:t>Policy, budget, legal, data or ER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3444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45167" y="1435608"/>
            <a:ext cx="566928" cy="566928"/>
          </a:xfrm>
          <a:prstGeom prst="ellipse">
            <a:avLst/>
          </a:prstGeom>
          <a:solidFill>
            <a:srgbClr val="5C4A97"/>
          </a:solidFill>
          <a:ln>
            <a:solidFill>
              <a:srgbClr val="5C4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39903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Approve</a:t>
            </a:r>
            <a:br/>
            <a:r>
              <a:t>Final internal approval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089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3310128"/>
            <a:ext cx="566928" cy="566928"/>
          </a:xfrm>
          <a:prstGeom prst="ellipse">
            <a:avLst/>
          </a:prstGeom>
          <a:solidFill>
            <a:srgbClr val="DC7E2D"/>
          </a:solidFill>
          <a:ln>
            <a:solidFill>
              <a:srgbClr val="DC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7355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Veto</a:t>
            </a:r>
            <a:br/>
            <a:r>
              <a:t>Stop high-risk matter if requirements unmet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1089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4448" y="3310128"/>
            <a:ext cx="566928" cy="566928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27355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Inform</a:t>
            </a:r>
            <a:br/>
            <a:r>
              <a:t>Informed only; not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1089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64808" y="3310128"/>
            <a:ext cx="566928" cy="566928"/>
          </a:xfrm>
          <a:prstGeom prst="ellipse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73552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263F"/>
                </a:solidFill>
                <a:latin typeface="Microsoft YaHei"/>
              </a:defRPr>
            </a:pPr>
            <a:r>
              <a:t>Execute</a:t>
            </a:r>
            <a:br/>
            <a:r>
              <a:t>System/document action after valid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标准审批矩阵样例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每行事项都应明确触发条件、复核方、批准方、否决权、执行方和证据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1927860"/>
                <a:gridCol w="1927860"/>
                <a:gridCol w="1927860"/>
                <a:gridCol w="1927860"/>
                <a:gridCol w="1927860"/>
              </a:tblGrid>
              <a:tr h="74676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Matter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Risk trigger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Review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Approve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Veto / Execute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Offer issuance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Within standard pay range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HRBP / Compensation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Business Leader + HR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Legal for non-standard / TA 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Offer approval, salary 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Exceptional hiring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Above range, related party, key role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HRBP, Comp, Legal, Compliance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Country HR + Regional HR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Legal/Compliance / TA Ops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Exception memo, COI disclosure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Special bonus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Non-standard or above budget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HRBP, Comp, Finance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Regional HR / CHRO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Finance/Compliance / Payroll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Bonus rationale, approval chain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Dismissal / redundancy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Involuntary termination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ER, Legal, Finance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Country/Regional HR + Business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Legal / HR Ops &amp; Payroll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Legal memo, severance calculation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HRIS access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Sensitive data access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HRIS, Data Owner, Privacy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System Owner + HR Owner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Privacy/Security / IAM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Access request, role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强制升级触发器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任何触发器出现时，都不能停留在常规审批层级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7772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280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Above budget / pay range / headcount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73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7772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280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Executive, key position or sensitive-data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73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685800" y="2286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286000"/>
            <a:ext cx="73152" cy="7772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423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Complaint, whistleblowing, investigation, dismissal, redundancy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816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217920" y="2286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286000"/>
            <a:ext cx="73152" cy="7772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423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Union, works council, government filing or regulator notice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16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85800" y="3429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429000"/>
            <a:ext cx="73152" cy="7772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566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Family, vendor, reporting-line or budget conflict of interest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959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6217920" y="3429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429000"/>
            <a:ext cx="73152" cy="7772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566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Cross-border assignment, data transfer or external processor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59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685800" y="4572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572000"/>
            <a:ext cx="73152" cy="7772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4709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Off-system commitment, retroactive approval or missing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102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6217920" y="4572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572000"/>
            <a:ext cx="73152" cy="7772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709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Media, reputation or material organisational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102352"/>
            <a:ext cx="4754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关键控制标准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制度有效性的关键不在“审批更多”，而在“审批有效、证据完整、异常可控”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15568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15568"/>
            <a:ext cx="73152" cy="14447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2527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Prior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先批准，后承诺/通知/签署/系统变更/支付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115568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115568"/>
            <a:ext cx="73152" cy="1444752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2527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No splitting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645919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不得拆分金额、人数、时间、组织或供应商合同以规避阈值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115568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115568"/>
            <a:ext cx="73152" cy="1444752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2527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Exception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645919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例外必须记录偏离、理由、风险、补偿控制、有效期和审批链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115568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115568"/>
            <a:ext cx="73152" cy="1444752"/>
          </a:xfrm>
          <a:prstGeom prst="rect">
            <a:avLst/>
          </a:prstGeom>
          <a:solidFill>
            <a:srgbClr val="5C4A97"/>
          </a:solidFill>
          <a:ln>
            <a:solidFill>
              <a:srgbClr val="5C4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2527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Conflict recusal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645919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存在家庭、个人、财务、汇报线或供应商利益时必须回避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108960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108960"/>
            <a:ext cx="73152" cy="1444752"/>
          </a:xfrm>
          <a:prstGeom prst="rect">
            <a:avLst/>
          </a:prstGeom>
          <a:solidFill>
            <a:srgbClr val="DC7E2D"/>
          </a:solidFill>
          <a:ln>
            <a:solidFill>
              <a:srgbClr val="DC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Local law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639312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本地劳动法、工会/职代会、数据保护和监管要求优先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108960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108960"/>
            <a:ext cx="73152" cy="144475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2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Privacy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3639312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目的限制、最小必要、准确性、保留期限、机密性和问责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108960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108960"/>
            <a:ext cx="73152" cy="144475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Vendor responsibility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639312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明确控制者/共同控制者/处理者，处理者合同和分包授权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3108960"/>
            <a:ext cx="260604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3108960"/>
            <a:ext cx="73152" cy="1444752"/>
          </a:xfrm>
          <a:prstGeom prst="rect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Fair ER procedures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3639312"/>
            <a:ext cx="2286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纪律、申诉、停职、解雇等必须审查事实、程序和员工回应机会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HR 数据与系统权限：能力 ≠ 授权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HRIS 可以做某事，不代表该用户有权批准该人事决策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Decision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业务/HR 提出事项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44952" y="2176272"/>
            <a:ext cx="347472" cy="320040"/>
          </a:xfrm>
          <a:prstGeom prst="rightArrow">
            <a:avLst/>
          </a:prstGeom>
          <a:solidFill>
            <a:srgbClr val="96A0AF"/>
          </a:solidFill>
          <a:ln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828800"/>
            <a:ext cx="73152" cy="123444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9659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DOA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35915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按矩阵完成审批与复核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33872" y="2176272"/>
            <a:ext cx="347472" cy="320040"/>
          </a:xfrm>
          <a:prstGeom prst="rightArrow">
            <a:avLst/>
          </a:prstGeom>
          <a:solidFill>
            <a:srgbClr val="96A0AF"/>
          </a:solidFill>
          <a:ln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73152" cy="12344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19659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System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35915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HR Ops / Payroll / IAM 执行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22792" y="2176272"/>
            <a:ext cx="347472" cy="320040"/>
          </a:xfrm>
          <a:prstGeom prst="rightArrow">
            <a:avLst/>
          </a:prstGeom>
          <a:solidFill>
            <a:srgbClr val="96A0AF"/>
          </a:solidFill>
          <a:ln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59" y="18288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1828800"/>
            <a:ext cx="73152" cy="1234440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1" y="19659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235915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留存审批链、日志、附件、变更记录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86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Sensitive data access requires owner approval and privacy review</a:t>
            </a:r>
          </a:p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Termination, transfer, leave and proxy approval must trigger access revalidation</a:t>
            </a:r>
          </a:p>
          <a:p>
            <a:pPr>
              <a:spcAft>
                <a:spcPts val="7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• Audit logs must connect system changes back to approved decision records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监控指标与复核节奏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用数据发现流程绕行、系统权限异常和整改无效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97280"/>
          <a:ext cx="5943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Indicator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Warning signal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Exception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Country or business unit persistently above average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Retroactive approval rate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Process bypass or system usability issue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Approval cycle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Too slow affects efficiency; too fast may indicate missing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Unauthorized approval count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Requires accountability and targeted training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System-access anomaly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High privacy and fraud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Dispute linkage rate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Controls are not preventing employment risk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Repeat audit finding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52D37"/>
                          </a:solidFill>
                          <a:latin typeface="Microsoft YaHei"/>
                        </a:defRPr>
                      </a:pPr>
                      <a:r>
                        <a:t>Weak remediation or unclear ownership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123444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234440"/>
            <a:ext cx="73152" cy="914400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137160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Quarterly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176479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HR Ops / HRIS produces approval, exception, retroactive approval and access-anomaly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37744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377440"/>
            <a:ext cx="73152" cy="9144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251460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Semi-annually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90779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Country HR with Legal/Compliance reviews local legal changes and high-risk matters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52044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520440"/>
            <a:ext cx="731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365760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Annually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4050791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Global HR updates matrix, thresholds, system roles and training materials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66344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4663440"/>
            <a:ext cx="73152" cy="9144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480060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Event-driven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5193792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M&amp;A, restructuring, redundancy, HRIS migration or shared-service change triggers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2263F"/>
                </a:solidFill>
                <a:latin typeface="Microsoft YaHei"/>
              </a:defRPr>
            </a:pPr>
            <a:r>
              <a:t>落地模板清单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6473"/>
                </a:solidFill>
                <a:latin typeface="Microsoft YaHei"/>
              </a:defRPr>
            </a:pPr>
            <a:r>
              <a:t>把政策转化为可配置、可检查、可审计的工作表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  <a:latin typeface="Aptos"/>
              </a:defRPr>
            </a:pPr>
            <a:r>
              <a:t>HR DOA Management Policy &amp; Standard · 27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3258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DOA Matrix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19072"/>
            <a:ext cx="3154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Matter code, workforce type, risk level, thresholds, requester, reviewer, approver, veto, executor, evidence, exception rules, effective/expiry.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88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73152" cy="123444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3258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Exception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719072"/>
            <a:ext cx="3154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Requester, country/BU, deviation, rationale, affected employees/value/data scope, risks, compensating controls, validity, approval chain.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73152" cy="1234440"/>
          </a:xfrm>
          <a:prstGeom prst="rect">
            <a:avLst/>
          </a:prstGeom>
          <a:solidFill>
            <a:srgbClr val="278356"/>
          </a:solidFill>
          <a:ln>
            <a:solidFill>
              <a:srgbClr val="278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258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Decision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719072"/>
            <a:ext cx="3154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Decision basis, requester, reviewers, approver, escalation/veto status, approval timestamp, employee/supplier scope, execution record.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0632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063240"/>
            <a:ext cx="73152" cy="12344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320040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Violation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3593592"/>
            <a:ext cx="3154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Unauthorised approval, retroactive approval, splitting, off-system commitment, COI, missing record, system-rights abuse.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063240"/>
            <a:ext cx="73152" cy="1234440"/>
          </a:xfrm>
          <a:prstGeom prst="rect">
            <a:avLst/>
          </a:prstGeom>
          <a:solidFill>
            <a:srgbClr val="5C4A97"/>
          </a:solidFill>
          <a:ln>
            <a:solidFill>
              <a:srgbClr val="5C4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20040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263F"/>
                </a:solidFill>
                <a:latin typeface="Microsoft YaHei"/>
              </a:defRPr>
            </a:pPr>
            <a:r>
              <a:t>Monitoring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593592"/>
            <a:ext cx="3154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252D37"/>
                </a:solidFill>
                <a:latin typeface="Microsoft YaHei"/>
              </a:defRPr>
            </a:pPr>
            <a:r>
              <a:t>Exception rate, cycle time, unauthorised count, access anomaly, dispute linkage, repeat audit findings.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739"/>
          </a:solidFill>
          <a:ln>
            <a:solidFill>
              <a:srgbClr val="C5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Microsoft YaHei"/>
              </a:defRPr>
            </a:pPr>
            <a:r>
              <a:t>结论：HR DOA 的核心价值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Microsoft YaHei"/>
              </a:defRPr>
            </a:pPr>
            <a:r>
              <a:t>让人事决策既能授权提速，也能保留治理责任、专业复核和审计证据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• Do not pursue fewer approvals at all costs; pursue risk-fit approvals.</a:t>
            </a:r>
          </a:p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• Combine global principles, local legal calibration and consistent risk language.</a:t>
            </a:r>
          </a:p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• Separate management authority, professional review, system capability and audit accountability.</a:t>
            </a:r>
          </a:p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• Make every material decision explainable, traceable, auditable and locally compliant.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6F0"/>
                </a:solidFill>
                <a:latin typeface="Microsoft YaHei"/>
              </a:defRPr>
            </a:pPr>
            <a:r>
              <a:t>Recommended next step: calibrate thresholds, job grades, title names and country procedures against each entity’s Finance DOA and local employment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